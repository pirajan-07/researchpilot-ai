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ResearchPilot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C0CEF0"/>
                </a:solidFill>
                <a:latin typeface="Calibri"/>
              </a:rPr>
              <a:t>Advanced Document Intelligence &amp; Grounded QA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75504" y="4754880"/>
            <a:ext cx="182880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FINAL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Problem Statement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Challenges in Academic &amp; Professional Research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47472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1B2A4A"/>
                </a:solidFill>
                <a:latin typeface="Calibri"/>
              </a:rPr>
              <a:t>Information Overload</a:t>
            </a:r>
          </a:p>
          <a:p>
            <a:pPr algn="l">
              <a:spcBef>
                <a:spcPts val="1000"/>
              </a:spcBef>
            </a:pPr>
            <a:r>
              <a:rPr sz="1500" b="0">
                <a:solidFill>
                  <a:srgbClr val="4B5563"/>
                </a:solidFill>
                <a:latin typeface="Calibri"/>
              </a:rPr>
              <a:t>Researchers spend excessive time manually filtering through long PDFs and complex papers to find specific details.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52544" y="1371600"/>
            <a:ext cx="347472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1B2A4A"/>
                </a:solidFill>
                <a:latin typeface="Calibri"/>
              </a:rPr>
              <a:t>Hallucination in LLMs</a:t>
            </a:r>
          </a:p>
          <a:p>
            <a:pPr algn="l">
              <a:spcBef>
                <a:spcPts val="1000"/>
              </a:spcBef>
            </a:pPr>
            <a:r>
              <a:rPr sz="1500" b="0">
                <a:solidFill>
                  <a:srgbClr val="4B5563"/>
                </a:solidFill>
                <a:latin typeface="Calibri"/>
              </a:rPr>
              <a:t>General-purpose AI tools often fabricate answers when summarizing or answering domain-specific technical questions.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5592" y="1371600"/>
            <a:ext cx="347472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1B2A4A"/>
                </a:solidFill>
                <a:latin typeface="Calibri"/>
              </a:rPr>
              <a:t>Lack of Traceability</a:t>
            </a:r>
          </a:p>
          <a:p>
            <a:pPr algn="l">
              <a:spcBef>
                <a:spcPts val="1000"/>
              </a:spcBef>
            </a:pPr>
            <a:r>
              <a:rPr sz="1500" b="0">
                <a:solidFill>
                  <a:srgbClr val="4B5563"/>
                </a:solidFill>
                <a:latin typeface="Calibri"/>
              </a:rPr>
              <a:t>Traditional LLM responses lack source citations, making it impossible to verify the origin of the information in the original document.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Objectives &amp; Scope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Project Goals and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029200" cy="4572000"/>
          </a:xfrm>
          <a:prstGeom prst="roundRect">
            <a:avLst/>
          </a:prstGeom>
          <a:solidFill>
            <a:srgbClr val="F4F7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l">
              <a:spcBef>
                <a:spcPts val="1000"/>
              </a:spcBef>
            </a:pPr>
            <a:r>
              <a:rPr sz="2200" b="1">
                <a:solidFill>
                  <a:srgbClr val="1B2A4A"/>
                </a:solidFill>
                <a:latin typeface="Calibri"/>
              </a:rPr>
              <a:t>Primary Objectives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4B5563"/>
                </a:solidFill>
                <a:latin typeface="Calibri"/>
              </a:rPr>
              <a:t>-  Build a highly accurate Retrieval-Augmented Generation (RAG) system.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rgbClr val="4B5563"/>
                </a:solidFill>
                <a:latin typeface="Calibri"/>
              </a:rPr>
              <a:t>-  Process PDF documents efficiently and extract text with high fidelity.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rgbClr val="4B5563"/>
                </a:solidFill>
                <a:latin typeface="Calibri"/>
              </a:rPr>
              <a:t>-  Provide strict grounded answers (refusing to answer if info is missing).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rgbClr val="4B5563"/>
                </a:solidFill>
                <a:latin typeface="Calibri"/>
              </a:rPr>
              <a:t>-  Display source citations and page numbers for user verification.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371600"/>
            <a:ext cx="5029200" cy="4572000"/>
          </a:xfrm>
          <a:prstGeom prst="roundRect">
            <a:avLst/>
          </a:prstGeom>
          <a:solidFill>
            <a:srgbClr val="F4F7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l">
              <a:spcBef>
                <a:spcPts val="1000"/>
              </a:spcBef>
            </a:pPr>
            <a:r>
              <a:rPr sz="2200" b="1">
                <a:solidFill>
                  <a:srgbClr val="1B2A4A"/>
                </a:solidFill>
                <a:latin typeface="Calibri"/>
              </a:rPr>
              <a:t>Project Scope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4B5563"/>
                </a:solidFill>
                <a:latin typeface="Calibri"/>
              </a:rPr>
              <a:t>-  Supported Formats: Currently optimized for PDF documents.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rgbClr val="4B5563"/>
                </a:solidFill>
                <a:latin typeface="Calibri"/>
              </a:rPr>
              <a:t>-  Focus: Single-document deep analysis rather than multi-doc cross-search.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rgbClr val="4B5563"/>
                </a:solidFill>
                <a:latin typeface="Calibri"/>
              </a:rPr>
              <a:t>-  AI Models: Leverages gemini-3.5-flash for reasoning and generation.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Proposed Solution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ResearchPilot AI Approach</a:t>
            </a:r>
          </a:p>
        </p:txBody>
      </p:sp>
      <p:pic>
        <p:nvPicPr>
          <p:cNvPr id="3" name="Picture 2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400800" cy="354935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498079" y="1371600"/>
            <a:ext cx="384048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l">
              <a:spcBef>
                <a:spcPts val="1000"/>
              </a:spcBef>
            </a:pPr>
            <a:r>
              <a:rPr sz="2400" b="1">
                <a:solidFill>
                  <a:srgbClr val="1B2A4A"/>
                </a:solidFill>
                <a:latin typeface="Calibri"/>
              </a:rPr>
              <a:t>The Solution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4B5563"/>
                </a:solidFill>
                <a:latin typeface="Calibri"/>
              </a:rPr>
              <a:t>ResearchPilot AI provides an intuitive web interface for researchers to upload documents and interact with them securely.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4B5563"/>
                </a:solidFill>
                <a:latin typeface="Calibri"/>
              </a:rPr>
              <a:t>It uses a localized vector database to store document embeddings and enforces strict context boundaries during generation to eliminate hallucinations.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Key Features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Core Capabilities of the Platform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47548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l">
              <a:spcBef>
                <a:spcPts val="400"/>
              </a:spcBef>
            </a:pPr>
            <a:r>
              <a:rPr sz="1800" b="1">
                <a:solidFill>
                  <a:srgbClr val="2563EB"/>
                </a:solidFill>
                <a:latin typeface="Calibri"/>
              </a:rPr>
              <a:t>Secure Document Vault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4B5563"/>
                </a:solidFill>
                <a:latin typeface="Calibri"/>
              </a:rPr>
              <a:t>Local processing and storage of research materials.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371600"/>
            <a:ext cx="47548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l">
              <a:spcBef>
                <a:spcPts val="400"/>
              </a:spcBef>
            </a:pPr>
            <a:r>
              <a:rPr sz="1800" b="1">
                <a:solidFill>
                  <a:srgbClr val="2563EB"/>
                </a:solidFill>
                <a:latin typeface="Calibri"/>
              </a:rPr>
              <a:t>Semantic Search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4B5563"/>
                </a:solidFill>
                <a:latin typeface="Calibri"/>
              </a:rPr>
              <a:t>Find concepts using meaning, not just exact keywords.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017520"/>
            <a:ext cx="47548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l">
              <a:spcBef>
                <a:spcPts val="400"/>
              </a:spcBef>
            </a:pPr>
            <a:r>
              <a:rPr sz="1800" b="1">
                <a:solidFill>
                  <a:srgbClr val="2563EB"/>
                </a:solidFill>
                <a:latin typeface="Calibri"/>
              </a:rPr>
              <a:t>Grounded Q&amp;A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4B5563"/>
                </a:solidFill>
                <a:latin typeface="Calibri"/>
              </a:rPr>
              <a:t>Answers derived strictly from document context.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3017520"/>
            <a:ext cx="47548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l">
              <a:spcBef>
                <a:spcPts val="400"/>
              </a:spcBef>
            </a:pPr>
            <a:r>
              <a:rPr sz="1800" b="1">
                <a:solidFill>
                  <a:srgbClr val="2563EB"/>
                </a:solidFill>
                <a:latin typeface="Calibri"/>
              </a:rPr>
              <a:t>Source Citations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4B5563"/>
                </a:solidFill>
                <a:latin typeface="Calibri"/>
              </a:rPr>
              <a:t>Transparent references to original page segments.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663440"/>
            <a:ext cx="47548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l">
              <a:spcBef>
                <a:spcPts val="400"/>
              </a:spcBef>
            </a:pPr>
            <a:r>
              <a:rPr sz="1800" b="1">
                <a:solidFill>
                  <a:srgbClr val="2563EB"/>
                </a:solidFill>
                <a:latin typeface="Calibri"/>
              </a:rPr>
              <a:t>AI Summarization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4B5563"/>
                </a:solidFill>
                <a:latin typeface="Calibri"/>
              </a:rPr>
              <a:t>Automatic generation of high-level document overviews.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4663440"/>
            <a:ext cx="47548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l">
              <a:spcBef>
                <a:spcPts val="400"/>
              </a:spcBef>
            </a:pPr>
            <a:r>
              <a:rPr sz="1800" b="1">
                <a:solidFill>
                  <a:srgbClr val="2563EB"/>
                </a:solidFill>
                <a:latin typeface="Calibri"/>
              </a:rPr>
              <a:t>Modern UI/UX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4B5563"/>
                </a:solidFill>
                <a:latin typeface="Calibri"/>
              </a:rPr>
              <a:t>Responsive, intuitive React-based user interface.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System Architecture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High-Level Component Interaction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18304" y="1097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03A"/>
                </a:solidFill>
                <a:latin typeface="Calibri"/>
              </a:rPr>
              <a:t>User</a:t>
            </a:r>
          </a:p>
        </p:txBody>
      </p:sp>
      <p:sp>
        <p:nvSpPr>
          <p:cNvPr id="4" name="Down Arrow 3"/>
          <p:cNvSpPr/>
          <p:nvPr/>
        </p:nvSpPr>
        <p:spPr>
          <a:xfrm>
            <a:off x="5998464" y="1463040"/>
            <a:ext cx="182880" cy="274320"/>
          </a:xfrm>
          <a:prstGeom prst="downArrow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718304" y="1737360"/>
            <a:ext cx="2743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18304" y="1783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Next.js 15 Frontend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98464" y="2194560"/>
            <a:ext cx="182880" cy="274320"/>
          </a:xfrm>
          <a:prstGeom prst="downArrow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18304" y="2468880"/>
            <a:ext cx="2743200" cy="4572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18304" y="2514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FastAPI Backend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98464" y="2926080"/>
            <a:ext cx="182880" cy="274320"/>
          </a:xfrm>
          <a:prstGeom prst="downArrow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03904" y="3200400"/>
            <a:ext cx="4572000" cy="457200"/>
          </a:xfrm>
          <a:prstGeom prst="roundRect">
            <a:avLst/>
          </a:prstGeom>
          <a:solidFill>
            <a:srgbClr val="EBF3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03904" y="3246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03A"/>
                </a:solidFill>
                <a:latin typeface="Calibri"/>
              </a:rPr>
              <a:t>PDF Processing / RAG Services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114800" y="3657600"/>
            <a:ext cx="182880" cy="274320"/>
          </a:xfrm>
          <a:prstGeom prst="downArrow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0400" y="3931920"/>
            <a:ext cx="1828800" cy="457200"/>
          </a:xfrm>
          <a:prstGeom prst="roundRect">
            <a:avLst/>
          </a:prstGeom>
          <a:solidFill>
            <a:srgbClr val="F4F7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39776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03A"/>
                </a:solidFill>
                <a:latin typeface="Calibri"/>
              </a:rPr>
              <a:t>PyMuPDF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7772400" y="3657600"/>
            <a:ext cx="182880" cy="274320"/>
          </a:xfrm>
          <a:prstGeom prst="downArrow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0" y="3931920"/>
            <a:ext cx="1828800" cy="457200"/>
          </a:xfrm>
          <a:prstGeom prst="roundRect">
            <a:avLst/>
          </a:prstGeom>
          <a:solidFill>
            <a:srgbClr val="F4F7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9776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03A"/>
                </a:solidFill>
                <a:latin typeface="Calibri"/>
              </a:rPr>
              <a:t>ChromaDB</a:t>
            </a:r>
          </a:p>
        </p:txBody>
      </p:sp>
      <p:sp>
        <p:nvSpPr>
          <p:cNvPr id="19" name="Up Arrow 18"/>
          <p:cNvSpPr/>
          <p:nvPr/>
        </p:nvSpPr>
        <p:spPr>
          <a:xfrm>
            <a:off x="7772400" y="4389120"/>
            <a:ext cx="182880" cy="274320"/>
          </a:xfrm>
          <a:prstGeom prst="upArrow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83680" y="4663440"/>
            <a:ext cx="2377440" cy="365760"/>
          </a:xfrm>
          <a:prstGeom prst="roundRect">
            <a:avLst/>
          </a:prstGeom>
          <a:solidFill>
            <a:srgbClr val="EB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709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2A4A"/>
                </a:solidFill>
                <a:latin typeface="Calibri"/>
              </a:rPr>
              <a:t>Local Embeddings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5998464" y="3657600"/>
            <a:ext cx="182880" cy="914400"/>
          </a:xfrm>
          <a:prstGeom prst="downArrow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803904" y="5120640"/>
            <a:ext cx="4572000" cy="365760"/>
          </a:xfrm>
          <a:prstGeom prst="roundRect">
            <a:avLst/>
          </a:prstGeom>
          <a:solidFill>
            <a:srgbClr val="EB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03904" y="5166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2A4A"/>
                </a:solidFill>
                <a:latin typeface="Calibri"/>
              </a:rPr>
              <a:t>Grounded Retrieval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5998464" y="5486400"/>
            <a:ext cx="182880" cy="182880"/>
          </a:xfrm>
          <a:prstGeom prst="downArrow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18304" y="5669280"/>
            <a:ext cx="2743200" cy="36576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5715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gemini-3.5-flash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5998464" y="6035040"/>
            <a:ext cx="182880" cy="182880"/>
          </a:xfrm>
          <a:prstGeom prst="downArrow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18304" y="6217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03A"/>
                </a:solidFill>
                <a:latin typeface="Calibri"/>
              </a:rPr>
              <a:t>Q&amp;A / Summary / Insights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RAG Pipeline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Retrieval-Augmented Generation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2A4A"/>
                </a:solidFill>
                <a:latin typeface="Calibri"/>
              </a:rPr>
              <a:t>Production RAG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8640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Calibri"/>
              </a:rPr>
              <a:t>INGESTION / INDEXING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PDF Document Upload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PyMuPDF text extraction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RecursiveCharacterTextSplitter (chunk size=800, overlap=150)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Local all-MiniLM-L6-v2 embeddings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ChromaDB persistent vector store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48640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Calibri"/>
              </a:rPr>
              <a:t>QUERY / GENERATION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User question received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Embedding generation &amp; semantic similarity retrieval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Grounded prompt construction with relevant context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gemini-3.5-flash LLM invocation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Grounded Q&amp;A / Structured Summary / Paper Insights generated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Response with explicit source/page citations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Technology Used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Core Stack &amp; Libraries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47472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Calibri"/>
              </a:rPr>
              <a:t>Frontend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Next.js 15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React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TypeScript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Tailwind CSS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Lucide Icons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TanStack Query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371600"/>
            <a:ext cx="347472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Calibri"/>
              </a:rPr>
              <a:t>Backend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FastAPI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Python 3.11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Pydantic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Uvicorn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PyMuPDF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371600"/>
            <a:ext cx="347472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Calibri"/>
              </a:rPr>
              <a:t>AI / Data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gemini-3.5-flash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LangChain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Langflow (academic workflow visualization)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ChromaDB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Sentence Transformers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- all-MiniLM-L6-v2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Langflow Components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Visual Prototyping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563EB"/>
                </a:solidFill>
                <a:latin typeface="Calibri"/>
              </a:rPr>
              <a:t>Langflow Academic Workflow Demonstration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737360" cy="9144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1460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Chat Input</a:t>
            </a:r>
          </a:p>
        </p:txBody>
      </p:sp>
      <p:sp>
        <p:nvSpPr>
          <p:cNvPr id="6" name="Down Arrow 5"/>
          <p:cNvSpPr/>
          <p:nvPr/>
        </p:nvSpPr>
        <p:spPr>
          <a:xfrm>
            <a:off x="2194560" y="2651760"/>
            <a:ext cx="182880" cy="182880"/>
          </a:xfrm>
          <a:prstGeom prst="downArrow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77440" y="2286000"/>
            <a:ext cx="1737360" cy="9144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251460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Knowledge</a:t>
            </a:r>
          </a:p>
        </p:txBody>
      </p:sp>
      <p:sp>
        <p:nvSpPr>
          <p:cNvPr id="9" name="Down Arrow 8"/>
          <p:cNvSpPr/>
          <p:nvPr/>
        </p:nvSpPr>
        <p:spPr>
          <a:xfrm>
            <a:off x="4114800" y="2651760"/>
            <a:ext cx="182880" cy="182880"/>
          </a:xfrm>
          <a:prstGeom prst="downArrow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2286000"/>
            <a:ext cx="1737360" cy="9144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251460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Parser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6035040" y="2651760"/>
            <a:ext cx="182880" cy="182880"/>
          </a:xfrm>
          <a:prstGeom prst="downArrow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0" y="2286000"/>
            <a:ext cx="1737360" cy="9144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51460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Prompt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7955280" y="2651760"/>
            <a:ext cx="182880" cy="182880"/>
          </a:xfrm>
          <a:prstGeom prst="downArrow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38160" y="2286000"/>
            <a:ext cx="1737360" cy="9144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51460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Agent (gemini-3.5-flash)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9875520" y="2651760"/>
            <a:ext cx="182880" cy="182880"/>
          </a:xfrm>
          <a:prstGeom prst="downArrow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0" y="2286000"/>
            <a:ext cx="1737360" cy="9144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0" y="251460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Chat Output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0" y="4114800"/>
            <a:ext cx="7616952" cy="1828800"/>
          </a:xfrm>
          <a:prstGeom prst="roundRect">
            <a:avLst/>
          </a:prstGeom>
          <a:solidFill>
            <a:srgbClr val="F4F7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4B5563"/>
                </a:solidFill>
                <a:latin typeface="Calibri"/>
              </a:rPr>
              <a:t>-  Chat Input: receives research query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4B5563"/>
                </a:solidFill>
                <a:latin typeface="Calibri"/>
              </a:rPr>
              <a:t>-  Knowledge: vector retrieval (ChromaDB layer)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4B5563"/>
                </a:solidFill>
                <a:latin typeface="Calibri"/>
              </a:rPr>
              <a:t>-  Parser: formats retrieved context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4B5563"/>
                </a:solidFill>
                <a:latin typeface="Calibri"/>
              </a:rPr>
              <a:t>-  Prompt: combines context and query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4B5563"/>
                </a:solidFill>
                <a:latin typeface="Calibri"/>
              </a:rPr>
              <a:t>-  Agent: gemini-3.5-flash generation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4B5563"/>
                </a:solidFill>
                <a:latin typeface="Calibri"/>
              </a:rPr>
              <a:t>-  Chat Output: returns grounded response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2179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B5563"/>
                </a:solidFill>
                <a:latin typeface="Calibri"/>
              </a:rPr>
              <a:t>* Production application is implemented in FastAPI + LangChain; Langflow is used here for academic workflow visualization.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Langflow Workflow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Visualizing Data Flow &amp; Logic</a:t>
            </a:r>
          </a:p>
        </p:txBody>
      </p:sp>
      <p:pic>
        <p:nvPicPr>
          <p:cNvPr id="3" name="Picture 2" descr="11_langflow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0152" cy="64750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2179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203A"/>
                </a:solidFill>
                <a:latin typeface="Calibri"/>
              </a:rPr>
              <a:t>Visual Langflow RAG Pipeline: Chat Input -&gt; Knowledge (Vector Store) -&gt; Parser -&gt; Prompt -&gt; Agent (LLM) -&gt; Chat Output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Application Workflow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End-to-End User Journey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828800"/>
            <a:ext cx="10360152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ctr">
              <a:spcBef>
                <a:spcPts val="3000"/>
              </a:spcBef>
            </a:pPr>
            <a:r>
              <a:rPr sz="2400" b="1">
                <a:solidFill>
                  <a:srgbClr val="2563EB"/>
                </a:solidFill>
                <a:latin typeface="Calibri"/>
              </a:rPr>
              <a:t>Upload ➔ Processing ➔ Workspace ➔ Interaction ➔ Insights</a:t>
            </a:r>
          </a:p>
          <a:p>
            <a:pPr algn="ctr">
              <a:spcBef>
                <a:spcPts val="2000"/>
              </a:spcBef>
            </a:pPr>
            <a:r>
              <a:rPr sz="1600" b="0">
                <a:solidFill>
                  <a:srgbClr val="4B5563"/>
                </a:solidFill>
                <a:latin typeface="Calibri"/>
              </a:rPr>
              <a:t>The user seamlessly transitions from uploading raw documents to interrogating the extracted knowledge base.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Dashboard &amp; Upload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Initial User Interface</a:t>
            </a:r>
          </a:p>
        </p:txBody>
      </p:sp>
      <p:pic>
        <p:nvPicPr>
          <p:cNvPr id="3" name="Picture 2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574488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Document Processing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Library &amp; Processing Status</a:t>
            </a:r>
          </a:p>
        </p:txBody>
      </p:sp>
      <p:pic>
        <p:nvPicPr>
          <p:cNvPr id="3" name="Picture 2" descr="03_proce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57448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Document Workspace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Interactive Analysis Environment</a:t>
            </a:r>
          </a:p>
        </p:txBody>
      </p:sp>
      <p:pic>
        <p:nvPicPr>
          <p:cNvPr id="3" name="Picture 2" descr="05_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74552" cy="625193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Grounded Q&amp;A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Strict Contextual Answers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97280"/>
            <a:ext cx="2873394" cy="2468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6616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B5563"/>
                </a:solidFill>
                <a:latin typeface="Calibri"/>
              </a:rPr>
              <a:t>Grounded answer generated from the uploaded paper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4023360"/>
            <a:ext cx="4452306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B5563"/>
                </a:solidFill>
                <a:latin typeface="Calibri"/>
              </a:rPr>
              <a:t>Source citations with page/chunk evidence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Summary &amp; Insights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Automated Document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4114800" cy="5029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Calibri"/>
              </a:rPr>
              <a:t>9 Summary Dimensions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1. Paper Overview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2. Research Problem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3. Objectives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4. Methodology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5. Dataset / Materials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6. Key Findings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7. Limitations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8. Conclusion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9. Future Research Direction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371600"/>
            <a:ext cx="4114800" cy="5029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Calibri"/>
              </a:rPr>
              <a:t>7 Deep Insights Dimensions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1. Research Problem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2. Methodology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3. Dataset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4. Main Contribution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5. Key Findings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6. Limitations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A203A"/>
                </a:solidFill>
                <a:latin typeface="Calibri"/>
              </a:rPr>
              <a:t>7. Future Direction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Testing &amp; Validation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Ensuring System Reliability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/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1B2A4A"/>
                </a:solidFill>
                <a:latin typeface="Calibri"/>
              </a:rPr>
              <a:t>Automated Test Coverage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1A203A"/>
                </a:solidFill>
                <a:latin typeface="Calibri"/>
              </a:rPr>
              <a:t>- 148 / 148 backend tests passed successfully.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1A203A"/>
                </a:solidFill>
                <a:latin typeface="Calibri"/>
              </a:rPr>
              <a:t>- Frontend linting and production build passed without errors.</a:t>
            </a:r>
          </a:p>
          <a:p>
            <a:pPr algn="l">
              <a:spcBef>
                <a:spcPts val="2000"/>
              </a:spcBef>
            </a:pPr>
            <a:r>
              <a:rPr sz="2000" b="1">
                <a:solidFill>
                  <a:srgbClr val="1B2A4A"/>
                </a:solidFill>
                <a:latin typeface="Calibri"/>
              </a:rPr>
              <a:t>Core Pipeline Validation (Verified)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1A203A"/>
                </a:solidFill>
                <a:latin typeface="Calibri"/>
              </a:rPr>
              <a:t>- PDF Extraction &amp; Indexing: Verified accurate chunking and vector storage.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1A203A"/>
                </a:solidFill>
                <a:latin typeface="Calibri"/>
              </a:rPr>
              <a:t>- Grounded Q&amp;A: Successfully answers queries strictly using context, with page/chunk citations.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1A203A"/>
                </a:solidFill>
                <a:latin typeface="Calibri"/>
              </a:rPr>
              <a:t>- Error Handling: Invalid file uploads, empty query validation, and fake document 404 handling verified.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1A203A"/>
                </a:solidFill>
                <a:latin typeface="Calibri"/>
              </a:rPr>
              <a:t>- Cache Verification: Analysis results are successfully cached to optimize API calls.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Security &amp; Reliability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Data Protection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/>
          </a:p>
          <a:p>
            <a:pPr algn="l">
              <a:spcBef>
                <a:spcPts val="1500"/>
              </a:spcBef>
            </a:pPr>
            <a:r>
              <a:rPr sz="1600" b="0">
                <a:solidFill>
                  <a:srgbClr val="1A203A"/>
                </a:solidFill>
                <a:latin typeface="Calibri"/>
              </a:rPr>
              <a:t>- Localized Document &amp; Vector Storage: PDFs and ChromaDB embeddings are stored locally, avoiding third-party data leakage.</a:t>
            </a:r>
          </a:p>
          <a:p>
            <a:pPr algn="l">
              <a:spcBef>
                <a:spcPts val="1500"/>
              </a:spcBef>
            </a:pPr>
            <a:r>
              <a:rPr sz="1600" b="0">
                <a:solidFill>
                  <a:srgbClr val="1A203A"/>
                </a:solidFill>
                <a:latin typeface="Calibri"/>
              </a:rPr>
              <a:t>- API Key Security: Managed solely via backend environment variables; never exposed to the frontend.</a:t>
            </a:r>
          </a:p>
          <a:p>
            <a:pPr algn="l">
              <a:spcBef>
                <a:spcPts val="1500"/>
              </a:spcBef>
            </a:pPr>
            <a:r>
              <a:rPr sz="1600" b="0">
                <a:solidFill>
                  <a:srgbClr val="1A203A"/>
                </a:solidFill>
                <a:latin typeface="Calibri"/>
              </a:rPr>
              <a:t>- Reduced Hallucination Risk: Generation is restricted strictly to retrieved document context with explicit source/page/chunk evidence.</a:t>
            </a:r>
          </a:p>
          <a:p>
            <a:pPr algn="l">
              <a:spcBef>
                <a:spcPts val="1500"/>
              </a:spcBef>
            </a:pPr>
            <a:r>
              <a:rPr sz="1600" b="0">
                <a:solidFill>
                  <a:srgbClr val="1A203A"/>
                </a:solidFill>
                <a:latin typeface="Calibri"/>
              </a:rPr>
              <a:t>- Graceful Error Handling &amp; Validation: Invalid files and unanswerable queries are safely intercepted.</a:t>
            </a:r>
          </a:p>
          <a:p>
            <a:pPr algn="l">
              <a:spcBef>
                <a:spcPts val="1500"/>
              </a:spcBef>
            </a:pPr>
            <a:r>
              <a:rPr sz="1600" b="0">
                <a:solidFill>
                  <a:srgbClr val="1A203A"/>
                </a:solidFill>
                <a:latin typeface="Calibri"/>
              </a:rPr>
              <a:t>- Analysis Result Caching: Caching of summaries and insights prevents redundant API calls and preserves quotas.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Future Scope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Planned / Not Implemented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B5563"/>
                </a:solidFill>
                <a:latin typeface="Calibri"/>
              </a:rPr>
              <a:t>(PLANNED / NOT IMPLEMENTED)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/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A203A"/>
                </a:solidFill>
                <a:latin typeface="Calibri"/>
              </a:rPr>
              <a:t>- Multi-document synthesis and comparative analysis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A203A"/>
                </a:solidFill>
                <a:latin typeface="Calibri"/>
              </a:rPr>
              <a:t>- Collaborative research workspaces for team sharing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A203A"/>
                </a:solidFill>
                <a:latin typeface="Calibri"/>
              </a:rPr>
              <a:t>- Extended format support (Word, LaTeX, EPUB)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A203A"/>
                </a:solidFill>
                <a:latin typeface="Calibri"/>
              </a:rPr>
              <a:t>- External academic and web source ingestion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A203A"/>
                </a:solidFill>
                <a:latin typeface="Calibri"/>
              </a:rPr>
              <a:t>- Citation network analysis and knowledge graphs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A203A"/>
                </a:solidFill>
                <a:latin typeface="Calibri"/>
              </a:rPr>
              <a:t>- Trend analysis across research topics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Conclusion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Project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l">
              <a:spcBef>
                <a:spcPts val="2000"/>
              </a:spcBef>
            </a:pPr>
            <a:r>
              <a:rPr sz="2000" b="1">
                <a:solidFill>
                  <a:srgbClr val="1B2A4A"/>
                </a:solidFill>
                <a:latin typeface="Calibri"/>
              </a:rPr>
              <a:t>ResearchPilot AI successfully demonstrates a robust, grounded approach to document intelligence.</a:t>
            </a:r>
          </a:p>
          <a:p>
            <a:pPr algn="l">
              <a:spcBef>
                <a:spcPts val="2000"/>
              </a:spcBef>
            </a:pPr>
            <a:r>
              <a:rPr sz="1800" b="0">
                <a:solidFill>
                  <a:srgbClr val="4B5563"/>
                </a:solidFill>
                <a:latin typeface="Calibri"/>
              </a:rPr>
              <a:t>By strictly tying LLM generation to local document context, we eliminate hallucinations and provide researchers with a trustworthy tool to accelerate their work.</a:t>
            </a:r>
          </a:p>
          <a:p>
            <a:pPr algn="l">
              <a:spcBef>
                <a:spcPts val="2000"/>
              </a:spcBef>
            </a:pPr>
            <a:r>
              <a:rPr sz="1800" b="0">
                <a:solidFill>
                  <a:srgbClr val="4B5563"/>
                </a:solidFill>
                <a:latin typeface="Calibri"/>
              </a:rPr>
              <a:t>The combination of modern web technologies and advanced AI models yields a highly effective solution for information overload.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137160"/>
          <a:lstStyle/>
          <a:p>
            <a:pPr algn="l"/>
            <a:r>
              <a:rPr b="1" sz="2600">
                <a:solidFill>
                  <a:srgbClr val="FFFFFF"/>
                </a:solidFill>
                <a:latin typeface="Calibri"/>
              </a:rPr>
              <a:t>Conclusion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C0CEF0"/>
                </a:solidFill>
                <a:latin typeface="Calibri"/>
              </a:rPr>
              <a:t>Project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l">
              <a:spcBef>
                <a:spcPts val="2000"/>
              </a:spcBef>
            </a:pPr>
            <a:r>
              <a:rPr sz="2000" b="1">
                <a:solidFill>
                  <a:srgbClr val="1B2A4A"/>
                </a:solidFill>
                <a:latin typeface="Calibri"/>
              </a:rPr>
              <a:t>ResearchPilot AI successfully demonstrates a robust, grounded approach to document intelligence.</a:t>
            </a:r>
          </a:p>
          <a:p>
            <a:pPr algn="l">
              <a:spcBef>
                <a:spcPts val="2000"/>
              </a:spcBef>
            </a:pPr>
            <a:r>
              <a:rPr sz="1800" b="0">
                <a:solidFill>
                  <a:srgbClr val="4B5563"/>
                </a:solidFill>
                <a:latin typeface="Calibri"/>
              </a:rPr>
              <a:t>By strictly tying LLM generation to local document context, we eliminate hallucinations and provide researchers with a trustworthy tool to accelerate their work.</a:t>
            </a:r>
          </a:p>
          <a:p>
            <a:pPr algn="l">
              <a:spcBef>
                <a:spcPts val="2000"/>
              </a:spcBef>
            </a:pPr>
            <a:r>
              <a:rPr sz="1800" b="0">
                <a:solidFill>
                  <a:srgbClr val="4B5563"/>
                </a:solidFill>
                <a:latin typeface="Calibri"/>
              </a:rPr>
              <a:t>The combination of modern web technologies and advanced AI models yields a highly effective solution for information overload.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Questions &amp;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C0CEF0"/>
                </a:solidFill>
                <a:latin typeface="Calibri"/>
              </a:rPr>
              <a:t>Thank you for your attention.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Source Code &amp;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BF3FF"/>
                </a:solidFill>
                <a:latin typeface="Calibri"/>
              </a:rPr>
              <a:t>GitHub Repository: https://github.com/niros/ResearchPilot-AI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